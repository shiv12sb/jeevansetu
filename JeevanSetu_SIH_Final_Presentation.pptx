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2600" dirty="0"/>
          </a:p>
        </p:txBody>
      </p:sp>
      <p:pic>
        <p:nvPicPr>
          <p:cNvPr id="3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8288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PAGE</a:t>
            </a:r>
            <a:endParaRPr lang="en-US" sz="2400" dirty="0"/>
          </a:p>
        </p:txBody>
      </p:sp>
      <p:pic>
        <p:nvPicPr>
          <p:cNvPr id="5" name="Image 1" descr="C:\Users\shivb\OneDrive\Desktop\JeevanSetu\assets\sih_brain_bulb_ti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5029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2560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26133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731520" y="321868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Title-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"Accessibility and quality of public healthcare services, particularly in rural and underserved areas"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31520" y="387705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MedTech / BioTech / HealthTech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31520" y="4535424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31520" y="519379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[Registered Team ID]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1520" y="58521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portal)-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JeevanSetu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Proposed Solution: Problem Analysis &amp; Ground Reality in Rural Maharashtra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819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70 km Referral Blackhole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189280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rural patient is referred from a PHC to a District Hospital, there is ZERO digital coordination. Patients arrive after arduous travel only to find specialists absent or ICU beds full.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2560320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560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Ground Reality: 42% Referral Dropout Rate in Rural Transit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1363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Language &amp; Digital Literacy Divide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5800" y="344728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68% of tribal/rural citizens cannot read or type text forms in English/Hindi. Existing e-health portals are unusable for non-literate villagers speaking Marathi or regional dialects.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5800" y="4114800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1148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Ground Reality: Zero Usability for Non-Literate Keypad Users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BF3FA"/>
          </a:solidFill>
          <a:ln w="15240">
            <a:solidFill>
              <a:srgbClr val="0B2B6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4690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Ghost Facilities &amp; Silent Stockouts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85800" y="500176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Villagers walk 15–30 km on foot only to discover duty doctors are absent or critical emergency medicines (anti-snake venoms, insulin, maternal antibiotics) are completely out of stock.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" y="5669280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0B2B6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56692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Ground Reality: Supply Chains are 100% Reactive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17920" y="150876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THE BROKEN RURAL PATIENT JOURNEY (CURRENT REALITY)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0" y="20574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21031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Sickness at Remote Hamlet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537960" y="2313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Tribal patient falls ill in Gadchiroli; no local diagnostic facility.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400800" y="27432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7960" y="27889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Blind Travel (15-25 km)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537960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Spends daily wages on transport to reach Sub-Centre / PHC.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400800" y="34290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34747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Facility Dead-End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537960" y="36850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is on unrecorded leave; anti-snake venom is out of stock.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400800" y="41148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37960" y="41605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Paper Referral Slip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53796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Handed a paper slip to District Hospital 70 km away without bed confirmation.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400800" y="48006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37960" y="48463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Catastrophic Dropout (42%)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537960" y="50566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Fearing exorbitant costs &amp; unfamiliar city hospitals, patient returns home.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400800" y="54864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37960" y="55321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Preventable Tragedy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537960" y="57424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Manageable medical condition turns into a fatal emergency.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Ecosystem Analysis: Strengthening &amp; Harmonizing Existing Public Health Systems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BF3FA"/>
          </a:solidFill>
          <a:ln w="15240">
            <a:solidFill>
              <a:srgbClr val="0B72B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600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4-TIER PUBLIC HEALTHCARE ECOSYSTEM IN MAHARASHTRA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19202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9659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Sub-Centres (SC)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21762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/ ANM Workers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Paper registers, zero referral visibility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474720" y="19202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0" y="19659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Primary Health Centres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566160" y="21762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PHC Medical Officers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Reactive supply chain, attendance blindspot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217920" y="19202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19659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Sub-District Hospitals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09360" y="21762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First Referral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Unannounced surge, no prior bed booking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8961120" y="19202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61120" y="19659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District Civil Hospitals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052560" y="21762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Care &amp; Surgery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Overcrowded OPDs, lost follow-up loop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48640" y="29077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COMPARATIVE GAP ANALYSIS: HOW JEEVANSETU COMPLEMENTS NATIONAL PLATFORMS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108960"/>
                <a:gridCol w="320040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National / State Portal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Core Intended Function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Rural Operational Limitation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JeevanSetu Unified Bridge (Our Impact)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ABHA &amp; ABDM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National Health ID &amp; Longitudinal Electronic Health Records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No live inter-facility referral handshakes, queue tokens, or bed booking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Acts as the Active Coordination Layer that feeds verified events into ABDM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e-Sanjeevani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Doctor-to-Doctor &amp; Citizen Teleconsultation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Requires high-speed 4G video; does not manage PHC drug inventory or transit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Works on 2G Keypad IVR + Real-time Marathi Voice AI without video overhead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108 Emergency Fleet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Emergency Ambulance Dispatch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Lacks digital vitals pre-transmission to destination hospital trauma team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Bi-directional triage data sharing with destination hospital before ambulance arrives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MJPJAY / PM-JAY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₹5 Lakhs Cashless Health Coverage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Rural villagers do not know which empaneled hospital performs specific surgeries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Automated Grounded Scheme Suggester maps patient symptoms directly to schemes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Proposed Solution: JeevanSetu — The Connected Rural Healthcare Highway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6F7F5"/>
          </a:solidFill>
          <a:ln w="19050">
            <a:solidFill>
              <a:srgbClr val="0D7D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600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"BRIDGING RURAL PATIENTS TO VERIFIED, LIFE-SAVING CARE"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1874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JeevanSetu (जीवनसेतु) is a high-reliability, zero-literacy digital healthcare coordination platform engineered for the Government of Maharashtra. It unifies citizens, ASHA workers, PHC Medical Officers, District Hospitals, and Health Administrators into a single seamless, transparent, and multi-lingual care highway.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26517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E6F7F5"/>
          </a:solidFill>
          <a:ln w="15240">
            <a:solidFill>
              <a:srgbClr val="0D7D7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276148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0D7D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7614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Rural Citizen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5800" y="33375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337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Hands-free Marathi Voice AI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685800" y="40233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2G Keypad IVR Phone Access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85800" y="47091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4709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 Before You Travel desk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85800" y="53949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394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MJPJAY ₹5L cashless finder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2788920" y="26517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EBF3FA"/>
          </a:solidFill>
          <a:ln w="15240">
            <a:solidFill>
              <a:srgbClr val="0B72B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26080" y="276148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0B72B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26080" y="27614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2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ASHA Worker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926080" y="33375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71800" y="3337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Field triage guidance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2926080" y="40233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7180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Maternal risk tracking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2926080" y="47091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71800" y="4709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Post-discharge follow-up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2926080" y="53949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71800" y="5394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Emergency 108 ambulance routing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5029200" y="26517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5240">
            <a:solidFill>
              <a:srgbClr val="0B2B6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166360" y="276148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0B2B6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0" y="27614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PHC Doctor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166360" y="33375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212080" y="3337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Verified doctor check-in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5166360" y="40233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1208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6-stage digital referral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5166360" y="47091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12080" y="4709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Drug depletion alerts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5166360" y="53949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12080" y="5394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OPD digital token &amp; vitals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7269480" y="26517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76148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406640" y="27614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District Hospital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7406640" y="33375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52360" y="3337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Pre-arrival bed booking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7406640" y="40233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45236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Referral handshake</a:t>
            </a:r>
            <a:endParaRPr lang="en-US" sz="820" dirty="0"/>
          </a:p>
        </p:txBody>
      </p:sp>
      <p:sp>
        <p:nvSpPr>
          <p:cNvPr id="53" name="Shape 50"/>
          <p:cNvSpPr/>
          <p:nvPr/>
        </p:nvSpPr>
        <p:spPr>
          <a:xfrm>
            <a:off x="7406640" y="47091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52360" y="4709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Specialist OPD doctor desk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7406640" y="53949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452360" y="5394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QR code admission verify</a:t>
            </a:r>
            <a:endParaRPr lang="en-US" sz="820" dirty="0"/>
          </a:p>
        </p:txBody>
      </p:sp>
      <p:sp>
        <p:nvSpPr>
          <p:cNvPr id="57" name="Shape 54"/>
          <p:cNvSpPr/>
          <p:nvPr/>
        </p:nvSpPr>
        <p:spPr>
          <a:xfrm>
            <a:off x="9509760" y="265176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646920" y="276148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646920" y="276148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District Admin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646920" y="33375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692640" y="3337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Outbreak Z-score detection</a:t>
            </a:r>
            <a:endParaRPr lang="en-US" sz="820" dirty="0"/>
          </a:p>
        </p:txBody>
      </p:sp>
      <p:sp>
        <p:nvSpPr>
          <p:cNvPr id="62" name="Shape 59"/>
          <p:cNvSpPr/>
          <p:nvPr/>
        </p:nvSpPr>
        <p:spPr>
          <a:xfrm>
            <a:off x="9646920" y="40233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692640" y="40233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Doctor presence integrity</a:t>
            </a:r>
            <a:endParaRPr lang="en-US" sz="820" dirty="0"/>
          </a:p>
        </p:txBody>
      </p:sp>
      <p:sp>
        <p:nvSpPr>
          <p:cNvPr id="64" name="Shape 61"/>
          <p:cNvSpPr/>
          <p:nvPr/>
        </p:nvSpPr>
        <p:spPr>
          <a:xfrm>
            <a:off x="9646920" y="47091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692640" y="4709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Medicine rebalancing desk</a:t>
            </a:r>
            <a:endParaRPr lang="en-US" sz="820" dirty="0"/>
          </a:p>
        </p:txBody>
      </p:sp>
      <p:sp>
        <p:nvSpPr>
          <p:cNvPr id="66" name="Shape 63"/>
          <p:cNvSpPr/>
          <p:nvPr/>
        </p:nvSpPr>
        <p:spPr>
          <a:xfrm>
            <a:off x="9646920" y="539496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692640" y="5394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District completion metrics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Methodology &amp; Process: End-to-End Patient Care Flowchart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6F7F5"/>
          </a:solidFill>
          <a:ln w="19050">
            <a:solidFill>
              <a:srgbClr val="0D7D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6276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Sickness / Need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18836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Intake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221284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Villager speaks in Marathi / Hindi or dials 2G Keypad IVR.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2331720"/>
            <a:ext cx="137160" cy="228600"/>
          </a:xfrm>
          <a:prstGeom prst="rightArrow">
            <a:avLst/>
          </a:prstGeom>
          <a:solidFill>
            <a:srgbClr val="0B2B63"/>
          </a:solidFill>
          <a:ln w="12700">
            <a:solidFill>
              <a:srgbClr val="0B2B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BF3FA"/>
          </a:solidFill>
          <a:ln w="19050">
            <a:solidFill>
              <a:srgbClr val="0B72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16276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Guided Triage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29000" y="18836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Do?"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4720" y="221284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Non-diagnostic safety filter identifies facility level required.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71032" y="2331720"/>
            <a:ext cx="137160" cy="228600"/>
          </a:xfrm>
          <a:prstGeom prst="rightArrow">
            <a:avLst/>
          </a:prstGeom>
          <a:solidFill>
            <a:srgbClr val="0B2B63"/>
          </a:solidFill>
          <a:ln w="12700">
            <a:solidFill>
              <a:srgbClr val="0B2B6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6276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Readiness Check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18836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Before Travel"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63640" y="221284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duty doctor presence &amp; OPD token before patient walks.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759952" y="2331720"/>
            <a:ext cx="137160" cy="228600"/>
          </a:xfrm>
          <a:prstGeom prst="rightArrow">
            <a:avLst/>
          </a:prstGeom>
          <a:solidFill>
            <a:srgbClr val="0B2B63"/>
          </a:solidFill>
          <a:ln w="12700">
            <a:solidFill>
              <a:srgbClr val="0B2B6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15400" y="1554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06840" y="16276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PHC Consultation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006840" y="18836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&amp; Care Case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052560" y="221284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PHC Doctor logs vitals (BP, Sugar, SpO2) &amp; initiates digital case.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966960" y="3474720"/>
            <a:ext cx="274320" cy="411480"/>
          </a:xfrm>
          <a:prstGeom prst="downArrow">
            <a:avLst/>
          </a:prstGeom>
          <a:solidFill>
            <a:srgbClr val="0B2B63"/>
          </a:solidFill>
          <a:ln w="12700">
            <a:solidFill>
              <a:srgbClr val="0B2B6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15400" y="3977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40507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8: Follow-up Loop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006840" y="43068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Care Continuity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052560" y="463600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milestone alerts prompt ASHA for home visit &amp; recovery.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732520" y="4754880"/>
            <a:ext cx="137160" cy="228600"/>
          </a:xfrm>
          <a:prstGeom prst="leftArrow">
            <a:avLst/>
          </a:prstGeom>
          <a:solidFill>
            <a:srgbClr val="0B2B63"/>
          </a:solidFill>
          <a:ln w="12700">
            <a:solidFill>
              <a:srgbClr val="0B2B6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26480" y="3977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0" y="40507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Hospital Care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17920" y="43068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&amp; Discharge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263640" y="463600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surgery recorded; digital discharge synched to PHC.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943600" y="4754880"/>
            <a:ext cx="137160" cy="228600"/>
          </a:xfrm>
          <a:prstGeom prst="leftArrow">
            <a:avLst/>
          </a:prstGeom>
          <a:solidFill>
            <a:srgbClr val="0B2B63"/>
          </a:solidFill>
          <a:ln w="12700">
            <a:solidFill>
              <a:srgbClr val="0B2B6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37560" y="3977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29000" y="40507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Assisted Transit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429000" y="43068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Bed Handshake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474720" y="463600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arrives with QR Token; ₹0 cashless MJPJAY admission.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154680" y="4754880"/>
            <a:ext cx="137160" cy="228600"/>
          </a:xfrm>
          <a:prstGeom prst="leftArrow">
            <a:avLst/>
          </a:prstGeom>
          <a:solidFill>
            <a:srgbClr val="0B2B63"/>
          </a:solidFill>
          <a:ln w="12700">
            <a:solidFill>
              <a:srgbClr val="0B2B6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8640" y="3977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BF3FA"/>
          </a:solidFill>
          <a:ln w="19050">
            <a:solidFill>
              <a:srgbClr val="0B72B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080" y="405079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2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Referral Booking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40080" y="43068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Bed Lock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85800" y="463600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Hospital accepts referral &amp; reserves Bed #12 in advance.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48640" y="594360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/>
        </p:spPr>
      </p:sp>
      <p:sp>
        <p:nvSpPr>
          <p:cNvPr id="50" name="Text 47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CORE SYSTEM INVARIANT: Absence of a digital event is labeled as "Hospital arrival pending", never "Patient abandoned care". Zero dropouts.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Core Verified Features: 6-Pillar Healthcare Delivery Matrix (RC-33 Audited)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E6F7F5"/>
          </a:solidFill>
          <a:ln w="16510">
            <a:solidFill>
              <a:srgbClr val="0D7D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81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ACCESS &amp; TRIAGE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1892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Directory: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1,200+ geo-tagged PHCs, Sub-Centres &amp; Hospitals.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68580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Before You Travel: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doctor duty status &amp; bed occupancy desk.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685800" y="2770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Should I Do Now?: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Non-diagnostic triage routing to right care tier.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685800" y="32095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OPD Token Generation: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queue slips reducing PHC waiting lines.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4297680" y="150876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EBF3FA"/>
          </a:solidFill>
          <a:ln w="16510">
            <a:solidFill>
              <a:srgbClr val="0B72B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1581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2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6-STAGE REFERRALS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34840" y="1892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Bi-Directional Lifecycle: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 -&gt; Destination Accept -&gt; Transit -&gt; Admit -&gt; Treat -&gt; Follow-up.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443484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Pre-Arrival Bed Booking: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Bed #12 before patient leaves PHC.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4434840" y="2770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Code Handover: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One-scan patient identification at district casualty.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4434840" y="32095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Care Continuity Ledger: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append-only audit trail.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8046720" y="150876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1581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DRUG INVENTORY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83880" y="1892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PHC Stock: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truth in transactional PostgreSQL.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818388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Z-Score: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baseline math (forecast.utils.js).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8183880" y="2770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5-Day Depletion Warnings: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 before anti-snake venoms run out.</a:t>
            </a:r>
            <a:endParaRPr lang="en-US" sz="830" dirty="0"/>
          </a:p>
        </p:txBody>
      </p:sp>
      <p:sp>
        <p:nvSpPr>
          <p:cNvPr id="27" name="Text 24"/>
          <p:cNvSpPr/>
          <p:nvPr/>
        </p:nvSpPr>
        <p:spPr>
          <a:xfrm>
            <a:off x="8183880" y="32095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Inter-PHC Redistribution: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surplus-to-deficit rebalancing.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548640" y="3886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6510">
            <a:solidFill>
              <a:srgbClr val="0B2B6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39593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INCLUSION &amp; VOICE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85800" y="42702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Marathi Voice AI (mr-IN):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1-on-1 natural conversation.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85800" y="4709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Hindi (hi-IN) &amp; English: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Multi-lingual speech recognition &amp; synthesis.</a:t>
            </a:r>
            <a:endParaRPr lang="en-US" sz="830" dirty="0"/>
          </a:p>
        </p:txBody>
      </p:sp>
      <p:sp>
        <p:nvSpPr>
          <p:cNvPr id="32" name="Text 29"/>
          <p:cNvSpPr/>
          <p:nvPr/>
        </p:nvSpPr>
        <p:spPr>
          <a:xfrm>
            <a:off x="685800" y="51480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2G Keypad IVR: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Toll-free DTMF access for basic phone owners.</a:t>
            </a:r>
            <a:endParaRPr lang="en-US" sz="830" dirty="0"/>
          </a:p>
        </p:txBody>
      </p:sp>
      <p:sp>
        <p:nvSpPr>
          <p:cNvPr id="33" name="Text 30"/>
          <p:cNvSpPr/>
          <p:nvPr/>
        </p:nvSpPr>
        <p:spPr>
          <a:xfrm>
            <a:off x="685800" y="5586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Resilience: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speech synthesis with regional fallback.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4297680" y="3886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34840" y="39593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SCHEMES &amp; CASHLESS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434840" y="42702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MJPJAY Maharashtra: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₹5 Lakhs cashless hospital surgery finder.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4434840" y="4709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PM-JAY &amp; JSSK: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maternal &amp; infant transport entitlements.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4434840" y="51480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Grounded Scheme Matcher: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profile maps to financial grants.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4434840" y="5586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Moneylender Debt: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empaneled hospital navigation.</a:t>
            </a:r>
            <a:endParaRPr lang="en-US" sz="830" dirty="0"/>
          </a:p>
        </p:txBody>
      </p:sp>
      <p:sp>
        <p:nvSpPr>
          <p:cNvPr id="40" name="Shape 37"/>
          <p:cNvSpPr/>
          <p:nvPr/>
        </p:nvSpPr>
        <p:spPr>
          <a:xfrm>
            <a:off x="8046720" y="3886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EE2E2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83880" y="39593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SURVEILLANCE &amp; SAFETY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183880" y="42702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Outbreak Alerts: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syndrome clustering 14d before logs.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8183880" y="4709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Doctor Presence Integrity: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timestamped duty attendance auditing.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8183880" y="51480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108 Hotlines: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Life-threatening red flags bypass AI.</a:t>
            </a:r>
            <a:endParaRPr lang="en-US" sz="830" dirty="0"/>
          </a:p>
        </p:txBody>
      </p:sp>
      <p:sp>
        <p:nvSpPr>
          <p:cNvPr id="45" name="Text 42"/>
          <p:cNvSpPr/>
          <p:nvPr/>
        </p:nvSpPr>
        <p:spPr>
          <a:xfrm>
            <a:off x="8183880" y="5586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Citizen Feedback Desk: </a:t>
            </a:r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2G missed-call and web grievance resolution.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Vernacular Voice AI Engine &amp; 2G Feature-Phone IVR Architecture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6583680" cy="2331720"/>
          </a:xfrm>
          <a:prstGeom prst="roundRect">
            <a:avLst>
              <a:gd name="adj" fmla="val 3922"/>
            </a:avLst>
          </a:prstGeom>
          <a:solidFill>
            <a:srgbClr val="E6F7F5"/>
          </a:solidFill>
          <a:ln w="15240">
            <a:solidFill>
              <a:srgbClr val="0D7D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60020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FLOW A: SMARTPHONE REAL-TIME MARATHI VOICE AI (mr-IN)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1520" y="18745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Taps Mic: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naturally in Marathi ("माझ्या छातीत दुखत आहे, जवळचे रुग्णालय कुठे आहे?")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731520" y="22585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Web Speech STT: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Transcribes regional phonemes (mr-IN / hi-IN / en-IN).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731520" y="264261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Healthcare Safety Layer: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non-diagnostic boundaries &amp; detects red-flag emergencies.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731520" y="302666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Express Grounding: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verified doctor presence, beds &amp; schemes from Supabase.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731520" y="341071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Regional TTS: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answer aloud in Marathi + renders high-contrast action cards.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6583680" cy="2423160"/>
          </a:xfrm>
          <a:prstGeom prst="roundRect">
            <a:avLst>
              <a:gd name="adj" fmla="val 3774"/>
            </a:avLst>
          </a:prstGeom>
          <a:solidFill>
            <a:srgbClr val="EBF3FA"/>
          </a:solidFill>
          <a:ln w="15240">
            <a:solidFill>
              <a:srgbClr val="0B72B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0233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☎️ FLOW B: 2G KEYPAD FEATURE-PHONE TELEPHONY IVR (NO INTERNET)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42976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Toll-Free Dialing: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Villager calls toll-free health access number from any basic keypad phone.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731520" y="470001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Multi-Language Menu: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1 for Hindi, Press 2 for Marathi, Press 3 for English.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731520" y="510235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Keypad DTMF Options: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Health Guide | [2] Referral PIN Check | [3] PHCs | [4] Drug Stock | [5] ASHA Callback.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731520" y="550468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Privacy &amp; Masking: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 number automatically masked (+91 98XXX XX04) with SHA-256 hash.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731520" y="590702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Emergency Escalation: </a:t>
            </a:r>
            <a:pPr indent="0" marL="0">
              <a:lnSpc>
                <a:spcPct val="105000"/>
              </a:lnSpc>
              <a:buNone/>
            </a:pPr>
            <a:r>
              <a:rPr lang="en-US" sz="8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Life-threatening symptom selections immediately route to 108 Emergency.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7315200" y="150876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 w="19050">
            <a:solidFill>
              <a:srgbClr val="0D7D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664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VERIFIED MARATHI VOICE CALL UI</a:t>
            </a:r>
            <a:endParaRPr lang="en-US" sz="1100" dirty="0"/>
          </a:p>
        </p:txBody>
      </p:sp>
      <p:pic>
        <p:nvPicPr>
          <p:cNvPr id="26" name="Image 1" descr="C:\Users\shivb\OneDrive\Desktop\JeevanSetu\assets\jeevansetu_marathi_voice_mod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20240"/>
            <a:ext cx="3657600" cy="40233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406640" y="5989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Live Two-Way Marathi Speech Engine (frontend/lib/voice/)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Full-Stack Technology Architecture &amp; Security Boundary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6F7F5"/>
          </a:solidFill>
          <a:ln w="16510">
            <a:solidFill>
              <a:srgbClr val="0D7D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581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CLIENT &amp; INTERACTION LAYER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31920" y="15819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(Turbopack) • React 19 • Tailwind CSS • Web Speech API • Lucide React • DTMF Simulator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1856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compiled static routes, zero-literacy vernacular voice modal, high-contrast accessible UI (&gt;=44px touch targets), dark/light theme, and PWA mobile responsiveness.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BF3FA"/>
          </a:solidFill>
          <a:ln w="16510">
            <a:solidFill>
              <a:srgbClr val="0B72B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724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2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API GATEWAY &amp; SECURITY PERIMETER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931920" y="27249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20+ • Express.js REST • Helmet • Strict CORS • Sliding-Window Rate Limiters • Input Whitelists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1520" y="2999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modular API routes, JWT bearer authentication, HMAC webhook signature verification, regex prompt injection interceptors, and PII anonymization.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" y="3794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6510">
            <a:solidFill>
              <a:srgbClr val="0B2B6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67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BUSINESS LOGIC &amp; DETERMINISTIC ENGINES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31920" y="38679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FollowUp Service • Medicine Forecast Engine (Z-Score) • Early-Warning Surveillance • AI Gateway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31520" y="4142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statistical math (no LLM hallucination in inventory), multi-stage referral milestone scheduler, doctor presence review desk, and provider-agnostic LLM gateway (Gemini/Claude/Fallback).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010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DATA &amp; STORAGE LAYER (AUTHORITATIVE TRUTH)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931920" y="50109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(22 Relational Migrations) • Row Level Security (RLS) • Supabase Auth • Storage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" y="5285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RLS enforcement across all tables, append-only immutable audit logs, server-side clock timestamps, and normalized schemas (patients, referrals, inventory, early warnings).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8640" y="598932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5989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423160" y="598932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29" name="Text 26"/>
          <p:cNvSpPr/>
          <p:nvPr/>
        </p:nvSpPr>
        <p:spPr>
          <a:xfrm>
            <a:off x="2423160" y="5989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REST APIs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297680" y="598932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31" name="Text 28"/>
          <p:cNvSpPr/>
          <p:nvPr/>
        </p:nvSpPr>
        <p:spPr>
          <a:xfrm>
            <a:off x="4297680" y="5989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(Supabase RLS)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172200" y="598932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33" name="Text 30"/>
          <p:cNvSpPr/>
          <p:nvPr/>
        </p:nvSpPr>
        <p:spPr>
          <a:xfrm>
            <a:off x="6172200" y="5989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AI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(mr-IN)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8046720" y="598932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35" name="Text 32"/>
          <p:cNvSpPr/>
          <p:nvPr/>
        </p:nvSpPr>
        <p:spPr>
          <a:xfrm>
            <a:off x="8046720" y="5989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(19/19 Test Suites Pass)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9921240" y="598932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37" name="Text 34"/>
          <p:cNvSpPr/>
          <p:nvPr/>
        </p:nvSpPr>
        <p:spPr>
          <a:xfrm>
            <a:off x="9921240" y="5989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Render + Docker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Healthcare Safety, AI Ethics &amp; Enterprise Security Matrix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645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CLINICAL AI SAFETY &amp; ETHICAL BOUNDARIES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20116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0665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!= Doctor (Strict Non-Diagnostic Boundary)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868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assistant is strictly an informational and navigation guide. It NEVER diagnoses disease, declares clinical certainty, or prescribes pharmaceutical drugs or dosages.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31520" y="30632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1181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Deterministic 108 Emergency Hotlines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68680" y="3337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Life-threatening red flags (acute chest pain, breathing collapse, loss of consciousness, heavy trauma, snake bites) NEVER go to probabilistic LLMs; they trigger deterministic 108 Ambulance alerts.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31520" y="41148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16966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Zero Fabrication / Hallucination Protection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8680" y="4389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stock quantities, doctor on-duty rosters, and hospital bed availability are pulled exclusively from transactional database records, never generated by AI.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731520" y="516636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22122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Prompt Injection &amp; Jailbreak Defense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68680" y="5440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regex boundary interceptors reject adversarial instructions ("ignore clinical rules", "dump database") with safe refusal envelopes without executing generation.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6217920" y="15087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BF3FA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645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5-PILLAR ENTERPRISE SECURITY ARCHITECTURE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0" y="20116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0B2B6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37960" y="205740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Role-Based Access Control (RBAC - 6 Roles)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37960" y="22585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isolation across patient, phc_staff, doctor, hospital_staff, ngo_staff, and district_admin. Users are barred by database triggers from self-escalating roles.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400800" y="2852928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0B2B6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2898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PostgreSQL Row Level Security (RLS)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537960" y="30998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RLS active on all 22 database tables. Patients can ONLY query their own cases; staff can ONLY access records within their assigned PHC or hospital.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400800" y="3694176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0B2B6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37960" y="373989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PII Masking &amp; Telephony Anonymization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37960" y="39410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numbers are masked (+91 98XXX XX04), ABHA IDs redacted, and IVR caller IDs hashed with salted SHA-256 to guarantee complete patient privacy.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400800" y="4535424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0B2B6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37960" y="45811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Authoritative Server-Side Truth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537960" y="47823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timestamps, stock adjustments, and referral states originate strictly from database clocks, preventing client-side backdating or clock manipulation.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400800" y="5376672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0B2B6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37960" y="542239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Append-Only Immutable Audit Logs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37960" y="5623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state transitions, administrative overrides, and referral handshakes append permanent audit events to audit_logs, ensuring zero tampering.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Operational Impact: Real-Time Live PHC &amp; District Healthcare Dashboards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6217920" cy="484632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19050">
            <a:solidFill>
              <a:srgbClr val="0D7D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6276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VERIFIED JEEVANSETU HOME &amp; LIVE MONITOR DASHBOARD</a:t>
            </a:r>
            <a:endParaRPr lang="en-US" sz="1100" dirty="0"/>
          </a:p>
        </p:txBody>
      </p:sp>
      <p:pic>
        <p:nvPicPr>
          <p:cNvPr id="12" name="Image 1" descr="C:\Users\shivb\OneDrive\Desktop\JeevanSetu\assets\jeevansetu_home_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852160" cy="3474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5943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Live Synchronized Monitor: Gadchiroli &amp; Chandrapur Public Health Cluster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040880" y="150876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E6F7F5"/>
          </a:solidFill>
          <a:ln w="15240">
            <a:solidFill>
              <a:srgbClr val="0D7D7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78040" y="158191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D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Referral Lifecycle Monitor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178040" y="181965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active referral case (JVS-MH-7A82K1) from Ashti PHC to District Civil Hospital Gadchiroli with real-time "Step 3: Accepted" progress bar.</a:t>
            </a:r>
            <a:endParaRPr lang="en-US" sz="830" dirty="0"/>
          </a:p>
        </p:txBody>
      </p:sp>
      <p:sp>
        <p:nvSpPr>
          <p:cNvPr id="17" name="Shape 13"/>
          <p:cNvSpPr/>
          <p:nvPr/>
        </p:nvSpPr>
        <p:spPr>
          <a:xfrm>
            <a:off x="7040880" y="2724912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78040" y="279806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Predictive Medicine Depletion Alert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178040" y="30358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essential cardiac drug (Amlodipine) with "3.4d stock remaining" depletion warning before stock reaches zero, prompting automated replenishment.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7040880" y="3941064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78040" y="401421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Grounded Resource &amp; Scheme Matching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178040" y="42519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identifies PM-JAY Cashless Coverage &amp; Gramin Arogya Sahayog transport grants matching the patient profile to eliminate out-of-pocket expenses.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7040880" y="5157216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EBF3FA"/>
          </a:solidFill>
          <a:ln w="15240">
            <a:solidFill>
              <a:srgbClr val="0B2B6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78040" y="523036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Multi-Signal Early Warning Feed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178040" y="54681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PHC syndromic vitals, drug consumption anomalies, and citizen feedback to alert District Health Officers (DHO) of seasonal outbreak spikes.</a:t>
            </a:r>
            <a:endParaRPr lang="en-US" sz="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Direct Alignment with SIH Problem Statement 26133 Requirements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84632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3383280"/>
                <a:gridCol w="2286000"/>
              </a:tblGrid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Govt. of Maharashtra SIH Mandate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Rural Ground Reality Challenge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JeevanSetu Verified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Verified Codebase Proof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6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Long Travel Distances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Unnecessary 25km trips to unstaffed or closed facilities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"Check Before You Travel" Live Availability Desk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frontend/app/navigate/page.js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Delayed &amp; Blind Referrals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42% patient dropout during inter-facility transit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6-Stage Bi-Directional Referral with Bed Booking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frontend/app/referrals/page.js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Medicine Stockout Uncertainty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Silent emergency drug exhaustion (anti-snake venoms)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Deterministic Consumption &amp; Depletion Alert Engine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backend/src/services/forecasting/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Illiteracy &amp; Language Barriers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Inability to read or type complex English/Hindi forms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1-on-1 Real-Time Marathi Voice AI Engine (mr-IN)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frontend/lib/voice/speechRecognition.js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Low-Bandwidth &amp; 2G Phones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Villagers owning basic keypad feature phones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Toll-Free 2G Keypad DTMF IVR Access &amp; PIN lookup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frontend/app/ivrsupport/page.js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Doctor Absenteeism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Unrecorded doctor leaves causing ghost PHC visits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Server-Verified Duty Roster &amp; Attendance Monitor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frontend/app/admin/doctor-presence/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Outbreak Reporting Delays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2-3 week lag in manual paper epidemic reports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Multi-Signal Statistical Anomaly Alerts (Z-score)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backend/src/services/earlyWarning/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Financial Medical Debt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Extortionate loans for private hospital surgeries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MJPJAY &amp; PM-JAY ₹5L Cashless Scheme Navigator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frontend/app/resources/schemes/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20240" y="2286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2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100" dirty="0"/>
          </a:p>
        </p:txBody>
      </p:sp>
      <p:pic>
        <p:nvPicPr>
          <p:cNvPr id="5" name="Image 0" descr="C:\Users\shivb\OneDrive\Desktop\JeevanSetu\assets\sih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64592"/>
            <a:ext cx="1508760" cy="749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72B9"/>
          </a:solidFill>
          <a:ln w="12700">
            <a:solidFill>
              <a:srgbClr val="0B72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  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37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Projected Rural Impact, Scalability &amp; Government References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645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MEASURABLE PUBLIC HEALTH IMPACT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20574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13055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Reduction in Unnecessary Travel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23865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Before You Travel" prevents wasted 20km journeys to closed PHCs.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31520" y="3081528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1546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 Completion in Inter-Facility Referrals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34107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Pre-arrival bed booking eliminates the 42% transit dropout rate.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1520" y="410565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17880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Elimination of Silent Stockouts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predictive consumption warnings trigger automated restock.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1520" y="5129784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20293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Out-of-Pocket Cashless Care for BPL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68680" y="54589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MJPJAY guidance connects poor villagers to ₹5L surgical cover.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217920" y="150876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BF3FA"/>
          </a:solidFill>
          <a:ln w="16510">
            <a:solidFill>
              <a:srgbClr val="0B2B6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627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SCALABILITY &amp; INTEGRATION ROADMAP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800" y="19385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ABDM &amp; FHIR Interoperability: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synchronization with Ayushman Bharat Digital Health Accounts.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6400800" y="23957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IoT Device Streaming: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glucometers &amp; SpO2 streaming via open APIs.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6400800" y="28529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State-Wide Rollout: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District-wide scaling across all 36 districts of Maharashtra.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6400800" y="3310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Tribal Dialect Expansion: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Gondi, Bhili, and Korku vernacular voice phoneme models.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217920" y="402336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651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4133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RESEARCH, REFERENCES &amp; POLICY GROUNDING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0080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National Health Mission (NHM) Rural Health Statistics 2022-23 —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Health &amp; Family Welfare.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6400800" y="4892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Government of Maharashtra Public Health Guidelines —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MJPJAY &amp; PHC Referral Protocols.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6400800" y="5349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World Health Organization (WHO) Digital Health Guidelines —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Strengthening Primary Health Care.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6400800" y="5806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B2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Ayushman Bharat Digital Mission (ABDM) Whitepaper —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Health Authority (NHA).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Smart India Hackathon 2026 - Government of Maharashtra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JeevanSetu - SIH 2026 Final Presentation</dc:title>
  <dc:subject>SIH Problem Statement 26133 - Rural Healthcare Access &amp; Coordination</dc:subject>
  <dc:creator>Team JeevanSetu</dc:creator>
  <cp:lastModifiedBy>Team JeevanSetu</cp:lastModifiedBy>
  <cp:revision>1</cp:revision>
  <dcterms:created xsi:type="dcterms:W3CDTF">2026-08-28T18:24:28Z</dcterms:created>
  <dcterms:modified xsi:type="dcterms:W3CDTF">2026-08-28T18:24:28Z</dcterms:modified>
</cp:coreProperties>
</file>